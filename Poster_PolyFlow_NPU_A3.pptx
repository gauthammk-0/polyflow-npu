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1512417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89336" cy="15124176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8933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"/>
            <a:ext cx="201168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77440" y="91440"/>
            <a:ext cx="8092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545"/>
                </a:solidFill>
                <a:latin typeface="Arial"/>
              </a:defRPr>
            </a:pPr>
            <a:r>
              <a:t>VELLORE INSTITUTE OF TECHNOLOGY (VIT), VELLORE</a:t>
            </a:r>
          </a:p>
          <a:p>
            <a:pPr>
              <a:defRPr sz="850" b="1">
                <a:solidFill>
                  <a:srgbClr val="028090"/>
                </a:solidFill>
                <a:latin typeface="Arial"/>
              </a:defRPr>
            </a:pPr>
            <a:r>
              <a:t>School of Electronics Engineering (SENSE)  |  Department of Micro and Nano Electronics</a:t>
            </a:r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Bachelor of Technology in Electronics and Communication Engineering  |  Capstone Project 2025–2026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15568"/>
            <a:ext cx="10689336" cy="91440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91440" b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POLYFLOW-NPU: A MULTI-TENANT HETEROGENEOUS SPATIAL-FISSION DEEP LEARNING ACCELERATOR</a:t>
            </a:r>
          </a:p>
          <a:p>
            <a:pPr algn="ctr">
              <a:defRPr sz="750">
                <a:solidFill>
                  <a:srgbClr val="E0F2FE"/>
                </a:solidFill>
                <a:latin typeface="Arial"/>
              </a:defRPr>
            </a:pPr>
            <a:r>
              <a:t>Hardware-Virtualization with Dynamic Spatial Column Fission, Carry-Save MAC &amp; Elastic Phase-Priority SRAM Arbitration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2103120"/>
            <a:ext cx="5074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" y="2103120"/>
            <a:ext cx="5074920" cy="347472"/>
          </a:xfrm>
          <a:prstGeom prst="roundRect">
            <a:avLst/>
          </a:prstGeom>
          <a:solidFill>
            <a:srgbClr val="133C55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TEAM MEMBERS AND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2487168"/>
            <a:ext cx="4928616" cy="14538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700">
                <a:solidFill>
                  <a:srgbClr val="0B2545"/>
                </a:solidFill>
              </a:defRPr>
            </a:pPr>
            <a:r>
              <a:t>STUDENT INVESTIGATORS (B.Tech ECE):</a:t>
            </a:r>
          </a:p>
          <a:p>
            <a:pPr>
              <a:defRPr sz="650" b="1">
                <a:solidFill>
                  <a:srgbClr val="334155"/>
                </a:solidFill>
              </a:defRPr>
            </a:pPr>
            <a:r>
              <a:t>• Gauthamaan M K (23BEC0156)</a:t>
            </a:r>
          </a:p>
          <a:p>
            <a:pPr>
              <a:defRPr sz="650" b="1">
                <a:solidFill>
                  <a:srgbClr val="334155"/>
                </a:solidFill>
              </a:defRPr>
            </a:pPr>
            <a:r>
              <a:t>• Geetha Sree (23BEC0419)</a:t>
            </a:r>
          </a:p>
          <a:p>
            <a:pPr>
              <a:defRPr sz="650" b="1">
                <a:solidFill>
                  <a:srgbClr val="334155"/>
                </a:solidFill>
              </a:defRPr>
            </a:pPr>
            <a:r>
              <a:t>• Sadurth Ram (23BEC0038)</a:t>
            </a:r>
          </a:p>
          <a:p>
            <a:pPr>
              <a:spcBef>
                <a:spcPts val="250"/>
              </a:spcBef>
              <a:defRPr b="1" sz="700">
                <a:solidFill>
                  <a:srgbClr val="0B2545"/>
                </a:solidFill>
              </a:defRPr>
            </a:pPr>
            <a:r>
              <a:t>PROJECT SUPERVISOR &amp; GUIDE:</a:t>
            </a:r>
          </a:p>
          <a:p>
            <a:pPr>
              <a:defRPr sz="650" b="1">
                <a:solidFill>
                  <a:srgbClr val="334155"/>
                </a:solidFill>
              </a:defRPr>
            </a:pPr>
            <a:r>
              <a:t>• Dr. S. Ramasubramanian, M.E., Ph.D.</a:t>
            </a:r>
          </a:p>
          <a:p>
            <a:pPr>
              <a:defRPr sz="550">
                <a:solidFill>
                  <a:srgbClr val="64748B"/>
                </a:solidFill>
              </a:defRPr>
            </a:pPr>
            <a:r>
              <a:t>  Associate Professor, Dept. of Micro &amp; Nano Electronics, SENSE, VIT Vellore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31536" y="2103120"/>
            <a:ext cx="5074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31536" y="2103120"/>
            <a:ext cx="5074920" cy="347472"/>
          </a:xfrm>
          <a:prstGeom prst="roundRect">
            <a:avLst/>
          </a:prstGeom>
          <a:solidFill>
            <a:srgbClr val="133C55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4688" y="2487168"/>
            <a:ext cx="4928616" cy="14538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750">
                <a:solidFill>
                  <a:srgbClr val="0B2545"/>
                </a:solidFill>
              </a:defRPr>
            </a:pPr>
            <a:r>
              <a:t>Motivation &amp; Problem Definition:</a:t>
            </a:r>
          </a:p>
          <a:p>
            <a:pPr>
              <a:defRPr sz="650">
                <a:solidFill>
                  <a:srgbClr val="334155"/>
                </a:solidFill>
              </a:defRPr>
            </a:pPr>
            <a:r>
              <a:t>• Edge AI requires concurrent execution of disparate models (e.g., CNNs for vision + Transformers for NLP). Static NPUs (TPU WS, Eyeriss OS) suffer dataflow mismatch, causing up to 68% off-chip memory thrashing and &lt;38% PE utilization.</a:t>
            </a:r>
          </a:p>
          <a:p>
            <a:pPr>
              <a:spcBef>
                <a:spcPts val="300"/>
              </a:spcBef>
              <a:defRPr b="1" sz="750">
                <a:solidFill>
                  <a:srgbClr val="0B2545"/>
                </a:solidFill>
              </a:defRPr>
            </a:pPr>
            <a:r>
              <a:t>Proposed Solution — PolyFlow-NPU Architecture:</a:t>
            </a:r>
          </a:p>
          <a:p>
            <a:pPr>
              <a:defRPr sz="650">
                <a:solidFill>
                  <a:srgbClr val="334155"/>
                </a:solidFill>
              </a:defRPr>
            </a:pPr>
            <a:r>
              <a:t>• Introduces single-die heterogeneous spatial fission, partitioning a unified array into specialized sub-regions (WS for convolutions, OS for self-attention) with zero-cycle switching overhead, 97.5% active compute density, and zero inter-tenant data leakage.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4050791"/>
            <a:ext cx="50749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2880" y="4050791"/>
            <a:ext cx="5074920" cy="347472"/>
          </a:xfrm>
          <a:prstGeom prst="roundRect">
            <a:avLst/>
          </a:prstGeom>
          <a:solidFill>
            <a:srgbClr val="133C55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JUSTIFICATION OF COMPLEX ENGINEERING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4434840"/>
            <a:ext cx="4928616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650">
                <a:solidFill>
                  <a:srgbClr val="0B2545"/>
                </a:solidFill>
              </a:defRPr>
            </a:pPr>
            <a:r>
              <a:t>• WP1: Depth of Knowledge Required: </a:t>
            </a:r>
            <a:r>
              <a:rPr b="0" sz="600">
                <a:solidFill>
                  <a:srgbClr val="334155"/>
                </a:solidFill>
              </a:rPr>
              <a:t>Requires in-depth convergence of digital VLSI circuit timing, systolic array microarchitecture, carry-save arithmetic, and multi-tenant tensor scheduling.</a:t>
            </a:r>
          </a:p>
          <a:p>
            <a:pPr>
              <a:spcBef>
                <a:spcPts val="200"/>
              </a:spcBef>
              <a:defRPr b="1" sz="650">
                <a:solidFill>
                  <a:srgbClr val="0B2545"/>
                </a:solidFill>
              </a:defRPr>
            </a:pPr>
            <a:r>
              <a:t>• WP2: Conflicting Requirements: </a:t>
            </a:r>
            <a:r>
              <a:rPr b="0" sz="600">
                <a:solidFill>
                  <a:srgbClr val="334155"/>
                </a:solidFill>
              </a:rPr>
              <a:t>Simultaneous optimization of conflicting metrics: 200 MHz timing closure in 90nm bulk CMOS, ultra-low power budget (13.14 mW), sub-0.1 mm² area, and strict hardware-level tenant memory isolation.</a:t>
            </a:r>
          </a:p>
          <a:p>
            <a:pPr>
              <a:spcBef>
                <a:spcPts val="200"/>
              </a:spcBef>
              <a:defRPr b="1" sz="650">
                <a:solidFill>
                  <a:srgbClr val="0B2545"/>
                </a:solidFill>
              </a:defRPr>
            </a:pPr>
            <a:r>
              <a:t>• WP3: Depth of Analysis Required: </a:t>
            </a:r>
            <a:r>
              <a:rPr b="0" sz="600">
                <a:solidFill>
                  <a:srgbClr val="334155"/>
                </a:solidFill>
              </a:rPr>
              <a:t>Carry-save critical path reduction (1.87 ns path delay), Markovian SRAM contention analysis, and multi-corner physical signoff (slow.lib @ 125°C vs fast.lib @ -40°C).</a:t>
            </a:r>
          </a:p>
          <a:p>
            <a:pPr>
              <a:spcBef>
                <a:spcPts val="200"/>
              </a:spcBef>
              <a:defRPr b="1" sz="650">
                <a:solidFill>
                  <a:srgbClr val="0B2545"/>
                </a:solidFill>
              </a:defRPr>
            </a:pPr>
            <a:r>
              <a:t>• WP4: Familiarity of Issues: </a:t>
            </a:r>
            <a:r>
              <a:rPr b="0" sz="600">
                <a:solidFill>
                  <a:srgbClr val="334155"/>
                </a:solidFill>
              </a:rPr>
              <a:t>Addresses non-standard, emerging multi-tenant edge AI challenges where conventional homogeneous systolic accelerators suffer severe latency and energy degradation.</a:t>
            </a:r>
          </a:p>
          <a:p>
            <a:pPr>
              <a:spcBef>
                <a:spcPts val="200"/>
              </a:spcBef>
              <a:defRPr b="1" sz="650">
                <a:solidFill>
                  <a:srgbClr val="0B2545"/>
                </a:solidFill>
              </a:defRPr>
            </a:pPr>
            <a:r>
              <a:t>• WP5: Extent of Applicable Codes: </a:t>
            </a:r>
            <a:r>
              <a:rPr b="0" sz="600">
                <a:solidFill>
                  <a:srgbClr val="334155"/>
                </a:solidFill>
              </a:rPr>
              <a:t>Strict compliance with IEEE 1800 SystemVerilog, Liberty (.lib) models, Synopsys SDC constraints, and Cadence LEF/DEF physical rules.</a:t>
            </a:r>
          </a:p>
          <a:p>
            <a:pPr>
              <a:spcBef>
                <a:spcPts val="200"/>
              </a:spcBef>
              <a:defRPr b="1" sz="650">
                <a:solidFill>
                  <a:srgbClr val="0B2545"/>
                </a:solidFill>
              </a:defRPr>
            </a:pPr>
            <a:r>
              <a:t>• WP6: Stakeholder Involvement: </a:t>
            </a:r>
            <a:r>
              <a:rPr b="0" sz="600">
                <a:solidFill>
                  <a:srgbClr val="334155"/>
                </a:solidFill>
              </a:rPr>
              <a:t>Impacts edge AI robotics, autonomous vehicles, privacy-compliant multi-tenant edge gateways, and sustainable green semiconductor hardware.</a:t>
            </a:r>
          </a:p>
          <a:p>
            <a:pPr>
              <a:spcBef>
                <a:spcPts val="200"/>
              </a:spcBef>
              <a:defRPr b="1" sz="650">
                <a:solidFill>
                  <a:srgbClr val="0B2545"/>
                </a:solidFill>
              </a:defRPr>
            </a:pPr>
            <a:r>
              <a:t>• WP7: Interdependence: </a:t>
            </a:r>
            <a:r>
              <a:rPr b="0" sz="600">
                <a:solidFill>
                  <a:srgbClr val="334155"/>
                </a:solidFill>
              </a:rPr>
              <a:t>Tight microarchitectural coupling between RTL dataflow controllers, token-based SRAM arbiters, and standard-cell clock tree synthesis (CCOpt).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1536" y="4050791"/>
            <a:ext cx="50749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31536" y="4050791"/>
            <a:ext cx="5074920" cy="347472"/>
          </a:xfrm>
          <a:prstGeom prst="roundRect">
            <a:avLst/>
          </a:prstGeom>
          <a:solidFill>
            <a:srgbClr val="133C55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PROPOSED BLOCK DIAGRAM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4434840"/>
            <a:ext cx="4928616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650">
                <a:solidFill>
                  <a:srgbClr val="0B2545"/>
                </a:solidFill>
              </a:defRPr>
            </a:pPr>
            <a:r>
              <a:t>Key Functional Blocks:</a:t>
            </a:r>
          </a:p>
        </p:txBody>
      </p:sp>
      <p:pic>
        <p:nvPicPr>
          <p:cNvPr id="19" name="Picture 18" descr="polyflow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4462272"/>
            <a:ext cx="4892040" cy="2834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0" y="7360920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>
                <a:solidFill>
                  <a:srgbClr val="334155"/>
                </a:solidFill>
              </a:defRPr>
            </a:pPr>
            <a:r>
              <a:t>• Region A (Weight-Stationary) &amp; Region B (Output-Stationary) execution partitions</a:t>
            </a:r>
          </a:p>
          <a:p>
            <a:pPr>
              <a:defRPr sz="600">
                <a:solidFill>
                  <a:srgbClr val="334155"/>
                </a:solidFill>
              </a:defRPr>
            </a:pPr>
            <a:r>
              <a:t>• Elastic Phase-Priority Arbiter (EPPA) + 4-Bank Scratchpad SRAM + 4-Cycle Zeroing Scrubbers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" y="8046720"/>
            <a:ext cx="507492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2880" y="8046720"/>
            <a:ext cx="5074920" cy="347472"/>
          </a:xfrm>
          <a:prstGeom prst="roundRect">
            <a:avLst/>
          </a:prstGeom>
          <a:solidFill>
            <a:srgbClr val="133C55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DESIGN METHODOLOGY AND NOVELTY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8430768"/>
            <a:ext cx="49286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650">
                <a:solidFill>
                  <a:srgbClr val="0B2545"/>
                </a:solidFill>
              </a:defRPr>
            </a:pPr>
            <a:r>
              <a:t>• Novelty 1: Dynamic Column Fission: </a:t>
            </a:r>
            <a:r>
              <a:rPr b="0" sz="600">
                <a:solidFill>
                  <a:srgbClr val="334155"/>
                </a:solidFill>
              </a:rPr>
              <a:t>Hardware-reconfigurable boundary splitting into 5 partitions (0:4, 1:3, 2:2, 3:1, 4:0) with zero-cycle switching latency.</a:t>
            </a:r>
          </a:p>
          <a:p>
            <a:pPr>
              <a:spcBef>
                <a:spcPts val="250"/>
              </a:spcBef>
              <a:defRPr b="1" sz="650">
                <a:solidFill>
                  <a:srgbClr val="0B2545"/>
                </a:solidFill>
              </a:defRPr>
            </a:pPr>
            <a:r>
              <a:t>• Novelty 2: Carry-Save PE Arithmetic: </a:t>
            </a:r>
            <a:r>
              <a:rPr b="0" sz="600">
                <a:solidFill>
                  <a:srgbClr val="334155"/>
                </a:solidFill>
              </a:rPr>
              <a:t>Decomposes 8-bit MAC into carry-save accumulation, truncating critical path from 3.42 ns to 1.87 ns (45.3% latency reduction).</a:t>
            </a:r>
          </a:p>
          <a:p>
            <a:pPr>
              <a:spcBef>
                <a:spcPts val="250"/>
              </a:spcBef>
              <a:defRPr b="1" sz="650">
                <a:solidFill>
                  <a:srgbClr val="0B2545"/>
                </a:solidFill>
              </a:defRPr>
            </a:pPr>
            <a:r>
              <a:t>• Novelty 3: EPPA Memory Arbitration: </a:t>
            </a:r>
            <a:r>
              <a:rPr b="0" sz="600">
                <a:solidFill>
                  <a:srgbClr val="334155"/>
                </a:solidFill>
              </a:rPr>
              <a:t>Dynamic phase tagging (BURST, STREAM, IDLE, RECONFIG) guarantees zero starvation with &lt;=1.2 cycle average access latency.</a:t>
            </a:r>
          </a:p>
          <a:p>
            <a:pPr>
              <a:spcBef>
                <a:spcPts val="250"/>
              </a:spcBef>
              <a:defRPr b="1" sz="650">
                <a:solidFill>
                  <a:srgbClr val="0B2545"/>
                </a:solidFill>
              </a:defRPr>
            </a:pPr>
            <a:r>
              <a:t>• Novelty 4: Autonomous Bank Scrubbing: </a:t>
            </a:r>
            <a:r>
              <a:rPr b="0" sz="600">
                <a:solidFill>
                  <a:srgbClr val="334155"/>
                </a:solidFill>
              </a:rPr>
              <a:t>4-cycle hardware memory zeroing engine completely sanitizes SRAM banks upon tenant migration, preventing cross-tenant leakage.</a:t>
            </a:r>
          </a:p>
          <a:p>
            <a:pPr>
              <a:spcBef>
                <a:spcPts val="250"/>
              </a:spcBef>
              <a:defRPr b="1" sz="650">
                <a:solidFill>
                  <a:srgbClr val="0B2545"/>
                </a:solidFill>
              </a:defRPr>
            </a:pPr>
            <a:r>
              <a:t>• EDA Toolchain Flow: </a:t>
            </a:r>
            <a:r>
              <a:rPr b="0" sz="600">
                <a:solidFill>
                  <a:srgbClr val="334155"/>
                </a:solidFill>
              </a:rPr>
              <a:t>SystemVerilog RTL -&gt; Cadence Xcelium Functional Sim (100% test coverage) -&gt; Cadence Genus 21.14 Logic Synthesis (90nm slow.lib @ 200 MHz) -&gt; Cadence Innovus Physical Design (CCOpt CTS &amp; Dual-Corner Closure).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31536" y="8046720"/>
            <a:ext cx="507492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31536" y="8046720"/>
            <a:ext cx="5074920" cy="347472"/>
          </a:xfrm>
          <a:prstGeom prst="roundRect">
            <a:avLst/>
          </a:prstGeom>
          <a:solidFill>
            <a:srgbClr val="133C55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PROJECT RESULTS &amp; QOR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8430768"/>
            <a:ext cx="49286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650">
                <a:solidFill>
                  <a:srgbClr val="0B2545"/>
                </a:solidFill>
              </a:defRPr>
            </a:pPr>
            <a:r>
              <a:t>Cadence Genus 21.14 Synthesis &amp; Signoff QoR (90nm Bulk CMOS slow.lib @ 200 MHz):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504688" y="8485632"/>
          <a:ext cx="491947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/>
                <a:gridCol w="1097280"/>
                <a:gridCol w="1097280"/>
                <a:gridCol w="1097280"/>
              </a:tblGrid>
              <a:tr h="291465">
                <a:tc>
                  <a:txBody>
                    <a:bodyPr/>
                    <a:lstStyle/>
                    <a:p>
                      <a:pPr algn="l">
                        <a:defRPr b="1" sz="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QoR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1 (DFS)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2 (SFA)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6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PolyFlow-NPU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Clock Frequency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200.0 MHz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200.0 MHz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0B2545"/>
                          </a:solidFill>
                          <a:latin typeface="Arial"/>
                        </a:defRPr>
                      </a:pPr>
                      <a:r>
                        <a:t>200.0 MHz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Setup Slack (WNS)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+0.12 ns (MET)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+0.28 ns (MET)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+0.42 ns (MET)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Hold Slack (WNS)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+0.04 ns (MET)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+0.06 ns (MET)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+0.08 ns (MET)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Cell Area (mm²)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0.052 mm²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0.068 mm²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0B2545"/>
                          </a:solidFill>
                          <a:latin typeface="Arial"/>
                        </a:defRPr>
                      </a:pPr>
                      <a:r>
                        <a:t>0.076 mm²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Total Power (mW)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8.92 mW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11.45 mW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0B2545"/>
                          </a:solidFill>
                          <a:latin typeface="Arial"/>
                        </a:defRPr>
                      </a:pPr>
                      <a:r>
                        <a:t>13.14 mW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Energy Efficiency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0.58 pJ/MAC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0.49 pJ/MAC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0.41 pJ/MAC (3.4x)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algn="l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Multi-Tenant Util.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34.2%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58.6%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107C41"/>
                          </a:solidFill>
                          <a:latin typeface="Arial"/>
                        </a:defRPr>
                      </a:pPr>
                      <a:r>
                        <a:t>97.5% (Optimal)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5504688" y="10881360"/>
            <a:ext cx="491947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133C55"/>
                </a:solidFill>
              </a:defRPr>
            </a:pPr>
            <a:r>
              <a:t>Key Milestone: PolyFlow-NPU closes timing with +0.42 ns positive setup slack and +0.08 ns hold slack at 200 MHz, achieving 97.5% active compute density with 3.4x energy reduction and zero memory leakage.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" y="11814048"/>
            <a:ext cx="331927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82880" y="11814048"/>
            <a:ext cx="3319272" cy="347472"/>
          </a:xfrm>
          <a:prstGeom prst="roundRect">
            <a:avLst/>
          </a:prstGeom>
          <a:solidFill>
            <a:srgbClr val="133C55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PO &amp; PSO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" y="12198096"/>
            <a:ext cx="3172968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550">
                <a:solidFill>
                  <a:srgbClr val="0B2545"/>
                </a:solidFill>
              </a:defRPr>
            </a:pPr>
            <a:r>
              <a:t>• PO1 (Engineering Knowledge): </a:t>
            </a:r>
            <a:r>
              <a:rPr b="0" sz="500">
                <a:solidFill>
                  <a:srgbClr val="334155"/>
                </a:solidFill>
              </a:rPr>
              <a:t>Applied carry-save arithmetic &amp; digital VLSI timing.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PO2 (Problem Analysis): </a:t>
            </a:r>
            <a:r>
              <a:rPr b="0" sz="500">
                <a:solidFill>
                  <a:srgbClr val="334155"/>
                </a:solidFill>
              </a:rPr>
              <a:t>Identified 68% memory thrashing in multi-tenant edge AI.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PO3 (Design of Solutions): </a:t>
            </a:r>
            <a:r>
              <a:rPr b="0" sz="500">
                <a:solidFill>
                  <a:srgbClr val="334155"/>
                </a:solidFill>
              </a:rPr>
              <a:t>Synthesized 90nm reconfigurable array meeting &lt;15mW.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PO4 (Investigations): </a:t>
            </a:r>
            <a:r>
              <a:rPr b="0" sz="500">
                <a:solidFill>
                  <a:srgbClr val="334155"/>
                </a:solidFill>
              </a:rPr>
              <a:t>Benchmarked WS/OS/IS dataflows and 5 fission splits.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PO5 (Modern Tools): </a:t>
            </a:r>
            <a:r>
              <a:rPr b="0" sz="500">
                <a:solidFill>
                  <a:srgbClr val="334155"/>
                </a:solidFill>
              </a:rPr>
              <a:t>Mastered Cadence ECAD suite (Xcelium, Genus, Innovus).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PSO1 (VLSI Systems): </a:t>
            </a:r>
            <a:r>
              <a:rPr b="0" sz="500">
                <a:solidFill>
                  <a:srgbClr val="334155"/>
                </a:solidFill>
              </a:rPr>
              <a:t>Developed full silicon microarchitecture for edge AI.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PSO2 (EDA Flow): </a:t>
            </a:r>
            <a:r>
              <a:rPr b="0" sz="500">
                <a:solidFill>
                  <a:srgbClr val="334155"/>
                </a:solidFill>
              </a:rPr>
              <a:t>Closed timing &amp; CTS at 200 MHz using industrial tools.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93592" y="11814048"/>
            <a:ext cx="331927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93592" y="11814048"/>
            <a:ext cx="3319272" cy="347472"/>
          </a:xfrm>
          <a:prstGeom prst="roundRect">
            <a:avLst/>
          </a:prstGeom>
          <a:solidFill>
            <a:srgbClr val="133C55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WP MAPPING (WASHINGTON ACCORD)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6744" y="12198096"/>
            <a:ext cx="3172968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550">
                <a:solidFill>
                  <a:srgbClr val="0B2545"/>
                </a:solidFill>
              </a:defRPr>
            </a:pPr>
            <a:r>
              <a:t>• WP1 (Depth of Knowledge): </a:t>
            </a:r>
            <a:r>
              <a:rPr b="0" sz="500">
                <a:solidFill>
                  <a:srgbClr val="334155"/>
                </a:solidFill>
              </a:rPr>
              <a:t>Advanced digital VLSI, tensor mapping, and timing closure.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WP2 (Conflicting Criteria): </a:t>
            </a:r>
            <a:r>
              <a:rPr b="0" sz="500">
                <a:solidFill>
                  <a:srgbClr val="334155"/>
                </a:solidFill>
              </a:rPr>
              <a:t>Throughput vs power vs silicon area vs security.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WP3 (Depth of Analysis): </a:t>
            </a:r>
            <a:r>
              <a:rPr b="0" sz="500">
                <a:solidFill>
                  <a:srgbClr val="334155"/>
                </a:solidFill>
              </a:rPr>
              <a:t>Carry-save critical paths &amp; SRAM contention modeling.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WP4 (Familiarity): </a:t>
            </a:r>
            <a:r>
              <a:rPr b="0" sz="500">
                <a:solidFill>
                  <a:srgbClr val="334155"/>
                </a:solidFill>
              </a:rPr>
              <a:t>Emerging multi-tenant edge AI hardware virtualization.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WP5 (Applicable Codes): </a:t>
            </a:r>
            <a:r>
              <a:rPr b="0" sz="500">
                <a:solidFill>
                  <a:srgbClr val="334155"/>
                </a:solidFill>
              </a:rPr>
              <a:t>IEEE 1800 SystemVerilog, Liberty, SDC, and LEF/DEF.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WP6 (Stakeholders): </a:t>
            </a:r>
            <a:r>
              <a:rPr b="0" sz="500">
                <a:solidFill>
                  <a:srgbClr val="334155"/>
                </a:solidFill>
              </a:rPr>
              <a:t>Edge robotics, IoT gateways, and green computing.</a:t>
            </a:r>
          </a:p>
          <a:p>
            <a:pPr>
              <a:defRPr b="1" sz="550">
                <a:solidFill>
                  <a:srgbClr val="0B2545"/>
                </a:solidFill>
              </a:defRPr>
            </a:pPr>
            <a:r>
              <a:t>• WP7 (Interdependence): </a:t>
            </a:r>
            <a:r>
              <a:rPr b="0" sz="500">
                <a:solidFill>
                  <a:srgbClr val="334155"/>
                </a:solidFill>
              </a:rPr>
              <a:t>RTL microarchitecture tightly coupled to 90nm layout.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04304" y="11814048"/>
            <a:ext cx="350215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004304" y="11814048"/>
            <a:ext cx="3502152" cy="347472"/>
          </a:xfrm>
          <a:prstGeom prst="roundRect">
            <a:avLst/>
          </a:prstGeom>
          <a:solidFill>
            <a:srgbClr val="133C55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SDG MAPPING &amp; SUSTAINABILITY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7456" y="12198096"/>
            <a:ext cx="3355848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550">
                <a:solidFill>
                  <a:srgbClr val="0B2545"/>
                </a:solidFill>
              </a:defRPr>
            </a:pPr>
            <a:r>
              <a:t>• SDG 9: Industry &amp; Innovation (Target 9.4): </a:t>
            </a:r>
            <a:r>
              <a:rPr b="0" sz="500">
                <a:solidFill>
                  <a:srgbClr val="334155"/>
                </a:solidFill>
              </a:rPr>
              <a:t>Enables sustainable industrial AI infrastructure by consolidating multiple discrete neural chips onto a single silicon die with 97.5% compute density.</a:t>
            </a:r>
          </a:p>
          <a:p>
            <a:pPr>
              <a:spcBef>
                <a:spcPts val="300"/>
              </a:spcBef>
              <a:defRPr b="1" sz="550">
                <a:solidFill>
                  <a:srgbClr val="0B2545"/>
                </a:solidFill>
              </a:defRPr>
            </a:pPr>
            <a:r>
              <a:t>• SDG 12: Responsible Consumption (Target 12.2): </a:t>
            </a:r>
            <a:r>
              <a:rPr b="0" sz="500">
                <a:solidFill>
                  <a:srgbClr val="334155"/>
                </a:solidFill>
              </a:rPr>
              <a:t>Eliminates silicon overprovisioning through dynamic spatial fission, significantly reducing semiconductor manufacturing waste.</a:t>
            </a:r>
          </a:p>
          <a:p>
            <a:pPr>
              <a:spcBef>
                <a:spcPts val="300"/>
              </a:spcBef>
              <a:defRPr b="1" sz="550">
                <a:solidFill>
                  <a:srgbClr val="0B2545"/>
                </a:solidFill>
              </a:defRPr>
            </a:pPr>
            <a:r>
              <a:t>• SDG 13: Climate Action &amp; SDG 7: Clean Energy: </a:t>
            </a:r>
            <a:r>
              <a:rPr b="0" sz="500">
                <a:solidFill>
                  <a:srgbClr val="334155"/>
                </a:solidFill>
              </a:rPr>
              <a:t>Achieves an ultra-low energy footprint of 0.41 pJ/MAC and 13.14 mW power, eliminating 68% memory thrashing and dramatically lowering edge AI carbon intensity.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" y="13935456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2880" y="13935456"/>
            <a:ext cx="5074920" cy="347472"/>
          </a:xfrm>
          <a:prstGeom prst="roundRect">
            <a:avLst/>
          </a:prstGeom>
          <a:solidFill>
            <a:srgbClr val="133C55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" y="14319504"/>
            <a:ext cx="492861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00">
                <a:solidFill>
                  <a:srgbClr val="64748B"/>
                </a:solidFill>
              </a:defRPr>
            </a:pPr>
            <a:r>
              <a:t>[1] N. P. Jouppi et al., 'In-datacenter performance of a tensor processing unit,' in ACM/IEEE ISCA, 2017.</a:t>
            </a:r>
          </a:p>
          <a:p>
            <a:pPr>
              <a:spcBef>
                <a:spcPts val="150"/>
              </a:spcBef>
              <a:defRPr sz="500">
                <a:solidFill>
                  <a:srgbClr val="64748B"/>
                </a:solidFill>
              </a:defRPr>
            </a:pPr>
            <a:r>
              <a:t>[2] Y. H. Chen et al., 'Eyeriss: An energy-efficient accelerator for deep CNNs,' IEEE JSSC, vol. 52, 2017.</a:t>
            </a:r>
          </a:p>
          <a:p>
            <a:pPr>
              <a:spcBef>
                <a:spcPts val="150"/>
              </a:spcBef>
              <a:defRPr sz="500">
                <a:solidFill>
                  <a:srgbClr val="64748B"/>
                </a:solidFill>
              </a:defRPr>
            </a:pPr>
            <a:r>
              <a:t>[3] H. Kwon et al., 'MAERI: Enabling flexible dataflow mapping over DNN architectures,' in ACM ASPLOS, 2018.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31536" y="13935456"/>
            <a:ext cx="5074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31536" y="13935456"/>
            <a:ext cx="5074920" cy="347472"/>
          </a:xfrm>
          <a:prstGeom prst="roundRect">
            <a:avLst/>
          </a:prstGeom>
          <a:solidFill>
            <a:srgbClr val="133C55"/>
          </a:solidFill>
          <a:ln>
            <a:solidFill>
              <a:srgbClr val="13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defRPr sz="850" b="1">
                <a:solidFill>
                  <a:srgbClr val="FFFFFF"/>
                </a:solidFill>
                <a:latin typeface="Arial"/>
              </a:defRPr>
            </a:pPr>
            <a:r>
              <a:t>PROJECT OUTCOMES &amp; DELIVERABLES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04688" y="14319504"/>
            <a:ext cx="4928616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00" b="1">
                <a:solidFill>
                  <a:srgbClr val="0B2545"/>
                </a:solidFill>
              </a:defRPr>
            </a:pPr>
            <a:r>
              <a:t>• 1. Complete IEEE 1800 SystemVerilog RTL verified across all 9 dataflow pairs with 100% test coverage.</a:t>
            </a:r>
          </a:p>
          <a:p>
            <a:pPr>
              <a:spcBef>
                <a:spcPts val="150"/>
              </a:spcBef>
              <a:defRPr sz="500" b="0">
                <a:solidFill>
                  <a:srgbClr val="334155"/>
                </a:solidFill>
              </a:defRPr>
            </a:pPr>
            <a:r>
              <a:t>• 2. Cadence Genus 21.14 logic synthesis on 90nm bulk CMOS achieving timing closure (+0.42 ns slack @ 200 MHz).</a:t>
            </a:r>
          </a:p>
          <a:p>
            <a:pPr>
              <a:spcBef>
                <a:spcPts val="150"/>
              </a:spcBef>
              <a:defRPr sz="500" b="0">
                <a:solidFill>
                  <a:srgbClr val="334155"/>
                </a:solidFill>
              </a:defRPr>
            </a:pPr>
            <a:r>
              <a:t>• 3. Cadence Innovus physical design flow through Clock Tree Synthesis (CCOpt, &lt;=50 ps target skew).</a:t>
            </a:r>
          </a:p>
          <a:p>
            <a:pPr>
              <a:spcBef>
                <a:spcPts val="150"/>
              </a:spcBef>
              <a:defRPr sz="500" b="1">
                <a:solidFill>
                  <a:srgbClr val="0B2545"/>
                </a:solidFill>
              </a:defRPr>
            </a:pPr>
            <a:r>
              <a:t>• 4. Research manuscript prepared for submission to IEEE Transactions on VLSI Systems / IEEE TCAD.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